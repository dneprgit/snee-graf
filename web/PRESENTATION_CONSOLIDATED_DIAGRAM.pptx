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11612880" cy="914400"/>
          </a:xfrm>
          <a:prstGeom prst="roundRect">
            <a:avLst/>
          </a:prstGeom>
          <a:solidFill>
            <a:srgbClr val="3B5998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latin typeface="Calibri"/>
              </a:defRPr>
            </a:pPr>
            <a:r>
              <a:t>СНЭЭ Graf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latin typeface="Calibri"/>
              </a:defRPr>
            </a:pPr>
            <a:r>
              <a:t>Визуализация диспетчерского графика • Оптимизация СНЭЭ • Интерактивные графики • SVG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latin typeface="Calibri"/>
              </a:defRPr>
            </a:pPr>
            <a:r>
              <a:t>Система накопления электрической энергии | Линейная оптимизация (LP, HiGHS)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200400" cy="1097280"/>
          </a:xfrm>
          <a:prstGeom prst="roundRect">
            <a:avLst/>
          </a:prstGeom>
          <a:solidFill>
            <a:srgbClr val="F0F8FF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latin typeface="Calibri"/>
              </a:defRPr>
            </a:pPr>
            <a:r>
              <a:t>Ввод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latin typeface="Calibri"/>
              </a:defRPr>
            </a:pPr>
            <a:r>
              <a:t>Профиль 24 ч (Excel / по умолч.)</a:t>
            </a:r>
            <a:br/>
            <a:r>
              <a:t>Nin, Nout, C, КПД η</a:t>
            </a:r>
            <a:br/>
            <a:r>
              <a:t>Редакт. графика, смещение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280160"/>
            <a:ext cx="3840480" cy="1097280"/>
          </a:xfrm>
          <a:prstGeom prst="roundRect">
            <a:avLst/>
          </a:prstGeom>
          <a:solidFill>
            <a:srgbClr val="E6FFE6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325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latin typeface="Calibri"/>
              </a:defRPr>
            </a:pPr>
            <a:r>
              <a:t>Шаг 1: LP-оптимизация параметров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69164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latin typeface="Calibri"/>
              </a:defRPr>
            </a:pPr>
            <a:r>
              <a:t>linprog → Nin, Nout, C, Dmax</a:t>
            </a:r>
            <a:br/>
            <a:r>
              <a:t>min дефицит, учёт η</a:t>
            </a:r>
            <a:br/>
            <a:r>
              <a:t>КПД в ограничениях CC/η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280160"/>
            <a:ext cx="3474720" cy="1097280"/>
          </a:xfrm>
          <a:prstGeom prst="roundRect">
            <a:avLst/>
          </a:prstGeom>
          <a:solidFill>
            <a:srgbClr val="FFF8DC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325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latin typeface="Calibri"/>
              </a:defRPr>
            </a:pPr>
            <a:r>
              <a:t>Шаг 2: LP-график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6916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latin typeface="Calibri"/>
              </a:defRPr>
            </a:pPr>
            <a:r>
              <a:t>Заданные Nin,Nout,C →</a:t>
            </a:r>
            <a:br/>
            <a:r>
              <a:t>заряд/разряд по часам</a:t>
            </a:r>
            <a:br/>
            <a:r>
              <a:t>SOC, результ. баланс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0" y="1828800"/>
            <a:ext cx="457200" cy="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55279" y="1828800"/>
            <a:ext cx="457201" cy="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114800" y="2651760"/>
            <a:ext cx="3840480" cy="1005840"/>
          </a:xfrm>
          <a:prstGeom prst="roundRect">
            <a:avLst/>
          </a:prstGeom>
          <a:solidFill>
            <a:srgbClr val="FFF0F5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2697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latin typeface="Calibri"/>
              </a:defRPr>
            </a:pPr>
            <a:r>
              <a:t>Результат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latin typeface="Calibri"/>
              </a:defRPr>
            </a:pPr>
            <a:r>
              <a:t>Диспетч. график • SOC • KPI</a:t>
            </a:r>
            <a:br/>
            <a:r>
              <a:t>Покрытие дефицита • Использ. избытка • Excel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040" y="2377440"/>
            <a:ext cx="0" cy="27432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657600" y="2331720"/>
            <a:ext cx="457200" cy="32004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412480" y="2331720"/>
            <a:ext cx="274320" cy="32004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035040" y="2651760"/>
            <a:ext cx="2651760" cy="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57200" y="2651760"/>
            <a:ext cx="3200400" cy="1005840"/>
          </a:xfrm>
          <a:prstGeom prst="roundRect">
            <a:avLst/>
          </a:prstGeom>
          <a:solidFill>
            <a:srgbClr val="F5F5FF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69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latin typeface="Calibri"/>
              </a:defRPr>
            </a:pPr>
            <a:r>
              <a:t>Интерактивность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0175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latin typeface="Calibri"/>
              </a:defRPr>
            </a:pPr>
            <a:r>
              <a:t>Drag-точки графика</a:t>
            </a:r>
            <a:br/>
            <a:r>
              <a:t>Смещение профиля</a:t>
            </a:r>
            <a:br/>
            <a:r>
              <a:t>SVG-батарея (маркеры)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657600" y="2331720"/>
            <a:ext cx="0" cy="82296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57600" y="3154680"/>
            <a:ext cx="457200" cy="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200" y="3840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latin typeface="Calibri"/>
              </a:defRPr>
            </a:pPr>
            <a:r>
              <a:t>• LP (не QP): scipy.optimize.linprog, HiGHS  • Два шага: параметры → график  • η в ограничениях: CC/η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297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latin typeface="Calibri"/>
              </a:defRPr>
            </a:pPr>
            <a:r>
              <a:t>• Допущения: 24ч, шаг 1ч, без деградации, цикл замкнут  • Ровные участки / пики — из оптимума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754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latin typeface="Calibri"/>
              </a:defRPr>
            </a:pPr>
            <a:r>
              <a:t>Сценарий: Профиль → Оценоч. парам. → Применить → График → KPI → Excel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1663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latin typeface="Calibri"/>
              </a:defRPr>
            </a:pPr>
            <a:r>
              <a:t>Сводка: PRESENTATION_FOR_USERS + PRESENTATION_OPTIMIZATION_SIMPLE | 1 слайд, схематичная диаграмма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
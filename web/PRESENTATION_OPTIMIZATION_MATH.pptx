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Математика оптимизации СНЭЭ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Линейная оптимизация: переменные, ограничения, итерации решения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Стандартная форма задачи 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Минимизировать: c₁x₁ + c₂x₂ + ... + cₙxₙ</a:t>
            </a:r>
          </a:p>
          <a:p>
            <a:pPr/>
            <a:r>
              <a:rPr sz="1800" b="0">
                <a:latin typeface="Calibri"/>
              </a:rPr>
              <a:t>При ограничениях:</a:t>
            </a:r>
          </a:p>
          <a:p>
            <a:pPr lvl="1"/>
            <a:r>
              <a:rPr sz="1800" b="0">
                <a:latin typeface="Calibri"/>
              </a:rPr>
              <a:t>A_eq · x = b_eq (равенства)</a:t>
            </a:r>
          </a:p>
          <a:p>
            <a:pPr lvl="1"/>
            <a:r>
              <a:rPr sz="1800" b="0">
                <a:latin typeface="Calibri"/>
              </a:rPr>
              <a:t>A_ub · x ≤ b_ub (неравенства)</a:t>
            </a:r>
          </a:p>
          <a:p>
            <a:pPr lvl="1"/>
            <a:r>
              <a:rPr sz="1800" b="0">
                <a:latin typeface="Calibri"/>
              </a:rPr>
              <a:t>lb ≤ x ≤ ub (границы переменных)</a:t>
            </a:r>
          </a:p>
          <a:p>
            <a:pPr/>
            <a:r>
              <a:rPr sz="1800" b="0">
                <a:latin typeface="Calibri"/>
              </a:rPr>
              <a:t>Переменные x неотрицательны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Две LP-задачи в коде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Задача A (100 переменных): подбор Nin, Nout, C, Dmax</a:t>
            </a:r>
          </a:p>
          <a:p>
            <a:pPr/>
            <a:r>
              <a:rPr sz="1800" b="0">
                <a:latin typeface="Calibri"/>
              </a:rPr>
              <a:t>Задача B (98 переменных): график при заданных Nin, Nout, C</a:t>
            </a:r>
          </a:p>
          <a:p>
            <a:pPr/>
            <a:r>
              <a:rPr sz="1800" b="0">
                <a:latin typeface="Calibri"/>
              </a:rPr>
              <a:t>В обеих — 24 уравнения баланса и десятки неравенств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Переменные (Задача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L[i] — энергия в батарее в конце часа i (SOC)</a:t>
            </a:r>
          </a:p>
          <a:p>
            <a:pPr/>
            <a:r>
              <a:rPr sz="1800" b="0">
                <a:latin typeface="Calibri"/>
              </a:rPr>
              <a:t>CC[i] — мощность заряда в час i (приведённая к выходу)</a:t>
            </a:r>
          </a:p>
          <a:p>
            <a:pPr/>
            <a:r>
              <a:rPr sz="1800" b="0">
                <a:latin typeface="Calibri"/>
              </a:rPr>
              <a:t>CD[i] — мощность разряда в час i</a:t>
            </a:r>
          </a:p>
          <a:p>
            <a:pPr/>
            <a:r>
              <a:rPr sz="1800" b="0">
                <a:latin typeface="Calibri"/>
              </a:rPr>
              <a:t>D[i] — остаточный дефицит мощности</a:t>
            </a:r>
          </a:p>
          <a:p>
            <a:pPr/>
            <a:r>
              <a:rPr sz="1800" b="0">
                <a:latin typeface="Calibri"/>
              </a:rPr>
              <a:t>Dmax, Nin, Nout, C — скалярные параметры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Целевая функция (минимизация)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F = Σ(D[i])·w_d + Dmax·w_dmax + Nin·w_n + Nout·w_n + C·w_c</a:t>
            </a:r>
          </a:p>
          <a:p>
            <a:pPr/>
            <a:r>
              <a:rPr sz="1800" b="0">
                <a:latin typeface="Calibri"/>
              </a:rPr>
              <a:t>Самый большой вес — у Dmax (главная цель)</a:t>
            </a:r>
          </a:p>
          <a:p>
            <a:pPr/>
            <a:r>
              <a:rPr sz="1800" b="0">
                <a:latin typeface="Calibri"/>
              </a:rPr>
              <a:t>Остальные веса уменьшают «раздувание» системы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Ограничение-равенство: баланс энергии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L[i] − L[i−1] − CC[i] + CD[i] = 0</a:t>
            </a:r>
          </a:p>
          <a:p>
            <a:pPr/>
            <a:r>
              <a:rPr sz="1800" b="0">
                <a:latin typeface="Calibri"/>
              </a:rPr>
              <a:t>Для i=0: L[0] − L[23] − CC[0] + CD[0] = 0 (цикл суток)</a:t>
            </a:r>
          </a:p>
          <a:p>
            <a:pPr/>
            <a:r>
              <a:rPr sz="1800" b="0">
                <a:latin typeface="Calibri"/>
              </a:rPr>
              <a:t>Изменение запаса = разряд минус заряд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Ограничения-неравенства (смысл)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rD: CC[i]/η − CD[i] − D[i] ≤ −Load[i] — баланс мощности, учёт КПД</a:t>
            </a:r>
          </a:p>
          <a:p>
            <a:pPr/>
            <a:r>
              <a:rPr sz="1800" b="0">
                <a:latin typeface="Calibri"/>
              </a:rPr>
              <a:t>rC: L[i] ≤ C — запас не выше ёмкости</a:t>
            </a:r>
          </a:p>
          <a:p>
            <a:pPr/>
            <a:r>
              <a:rPr sz="1800" b="0">
                <a:latin typeface="Calibri"/>
              </a:rPr>
              <a:t>rNi: CC[i]/η ≤ Nin — лимит мощности заряда</a:t>
            </a:r>
          </a:p>
          <a:p>
            <a:pPr/>
            <a:r>
              <a:rPr sz="1800" b="0">
                <a:latin typeface="Calibri"/>
              </a:rPr>
              <a:t>rNo: CD[i] ≤ Nout — лимит мощности разряда</a:t>
            </a:r>
          </a:p>
          <a:p>
            <a:pPr/>
            <a:r>
              <a:rPr sz="1800" b="0">
                <a:latin typeface="Calibri"/>
              </a:rPr>
              <a:t>rDmax: D[i] ≤ Dmax — пик дефицита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КПД η в формулах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η входит в коэффициенты при CC[i]: член CC[i]/η</a:t>
            </a:r>
          </a:p>
          <a:p>
            <a:pPr/>
            <a:r>
              <a:rPr sz="1800" b="0">
                <a:latin typeface="Calibri"/>
              </a:rPr>
              <a:t>Чем ниже КПД — тем больше нужна CC при той же полезной энергии</a:t>
            </a:r>
          </a:p>
          <a:p>
            <a:pPr/>
            <a:r>
              <a:rPr sz="1800" b="0">
                <a:latin typeface="Calibri"/>
              </a:rPr>
              <a:t>Ограничения автоматически ужесточаются при малом 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Как работает симплекс-метод (итерации)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Ограничения задают многогранник, оптимум — в вершине</a:t>
            </a:r>
          </a:p>
          <a:p>
            <a:pPr/>
            <a:r>
              <a:rPr sz="1800" b="0">
                <a:latin typeface="Calibri"/>
              </a:rPr>
              <a:t>Базис: часть переменных «активна», остальные — нули</a:t>
            </a:r>
          </a:p>
          <a:p>
            <a:pPr/>
            <a:r>
              <a:rPr sz="1800" b="0">
                <a:latin typeface="Calibri"/>
              </a:rPr>
              <a:t>Шаг: переход в соседнюю вершину (смена базиса)</a:t>
            </a:r>
          </a:p>
          <a:p>
            <a:pPr/>
            <a:r>
              <a:rPr sz="1800" b="0">
                <a:latin typeface="Calibri"/>
              </a:rPr>
              <a:t>Цель шага — уменьшить целевую функцию</a:t>
            </a:r>
          </a:p>
          <a:p>
            <a:pPr/>
            <a:r>
              <a:rPr sz="1800" b="0">
                <a:latin typeface="Calibri"/>
              </a:rPr>
              <a:t>Остановка, когда улучшение невозможно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Метод внутренней точки (альтернатива)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Решение движется внутри допустимой области</a:t>
            </a:r>
          </a:p>
          <a:p>
            <a:pPr/>
            <a:r>
              <a:rPr sz="1800" b="0">
                <a:latin typeface="Calibri"/>
              </a:rPr>
              <a:t>На каждой итерации — линеаризация (Ньютон)</a:t>
            </a:r>
          </a:p>
          <a:p>
            <a:pPr/>
            <a:r>
              <a:rPr sz="1800" b="0">
                <a:latin typeface="Calibri"/>
              </a:rPr>
              <a:t>Часто быстрее на больших задачах</a:t>
            </a:r>
          </a:p>
          <a:p>
            <a:pPr/>
            <a:r>
              <a:rPr sz="1800" b="0">
                <a:latin typeface="Calibri"/>
              </a:rPr>
              <a:t>HiGHS поддерживает оба подхода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Библиотеки: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Хранение векторов c, b и матриц A_eq, A_ub</a:t>
            </a:r>
          </a:p>
          <a:p>
            <a:pPr/>
            <a:r>
              <a:rPr sz="1800" b="0">
                <a:latin typeface="Calibri"/>
              </a:rPr>
              <a:t>Формирование bounds для каждой переменной</a:t>
            </a:r>
          </a:p>
          <a:p>
            <a:pPr/>
            <a:r>
              <a:rPr sz="1800" b="0">
                <a:latin typeface="Calibri"/>
              </a:rPr>
              <a:t>Обработка результата (вектор 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Библиотеки: SciPy и HiGHS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SciPy: linprog(c, A_ub, b_ub, A_eq, b_eq, bounds, method='highs')</a:t>
            </a:r>
          </a:p>
          <a:p>
            <a:pPr/>
            <a:r>
              <a:rPr sz="1800" b="0">
                <a:latin typeface="Calibri"/>
              </a:rPr>
              <a:t>HiGHS: встроенный LP-солвер в SciPy (C++)</a:t>
            </a:r>
          </a:p>
          <a:p>
            <a:pPr/>
            <a:r>
              <a:rPr sz="1800" b="0">
                <a:latin typeface="Calibri"/>
              </a:rPr>
              <a:t>Лицензия MIT, без внешних зависимостей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Извлечение результата из 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Calibri"/>
              </a:rPr>
              <a:t>x[0..23] = L[i], x[24..47] = CC[i], x[48..71] = CD[i]</a:t>
            </a:r>
          </a:p>
          <a:p>
            <a:pPr/>
            <a:r>
              <a:rPr sz="1800" b="0">
                <a:latin typeface="Calibri"/>
              </a:rPr>
              <a:t>График СНЭЭ: EESSLoad[i] = CD[i] − CC[i]/η</a:t>
            </a:r>
          </a:p>
          <a:p>
            <a:pPr/>
            <a:r>
              <a:rPr sz="1800" b="0">
                <a:latin typeface="Calibri"/>
              </a:rPr>
              <a:t>Проверка: Σ(CC[i] − CD[i]) ≈ 0 (баланс заряда и разряда)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
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200" b="1">
                <a:latin typeface="Calibri"/>
              </a:rPr>
              <a:t>СНЭЭ Graf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latin typeface="Calibri"/>
              </a:rPr>
              <a:t>Понятная презентация сервиса для обычных пользователей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/>
              </a:rPr>
              <a:t>Что можно делать на сайте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Calibri"/>
              </a:rPr>
              <a:t>Загружать суточный профиль баланса мощности (24 часа)</a:t>
            </a:r>
          </a:p>
          <a:p>
            <a:pPr/>
            <a:r>
              <a:rPr sz="2000" b="0">
                <a:latin typeface="Calibri"/>
              </a:rPr>
              <a:t>Подбирать параметры СНЭЭ: мощность заряда, мощность разряда, емкость, КПД</a:t>
            </a:r>
          </a:p>
          <a:p>
            <a:pPr/>
            <a:r>
              <a:rPr sz="2000" b="0">
                <a:latin typeface="Calibri"/>
              </a:rPr>
              <a:t>Интерактивно менять данные и сразу видеть результат</a:t>
            </a:r>
          </a:p>
          <a:p>
            <a:pPr/>
            <a:r>
              <a:rPr sz="2000" b="0">
                <a:latin typeface="Calibri"/>
              </a:rPr>
              <a:t>Получать диспетчерский график, SOC и ключевые показатели эффективности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/>
              </a:rPr>
              <a:t>Какая исходная информация загружается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Calibri"/>
              </a:rPr>
              <a:t>Профиль баланса мощности по часам (24 значения)</a:t>
            </a:r>
          </a:p>
          <a:p>
            <a:pPr/>
            <a:r>
              <a:rPr sz="2000" b="0">
                <a:latin typeface="Calibri"/>
              </a:rPr>
              <a:t>Способы загрузки:</a:t>
            </a:r>
          </a:p>
          <a:p>
            <a:pPr lvl="1"/>
            <a:r>
              <a:rPr sz="2000" b="0">
                <a:latin typeface="Calibri"/>
              </a:rPr>
              <a:t>Excel-файл (.xlsx/.xls)</a:t>
            </a:r>
          </a:p>
          <a:p>
            <a:pPr lvl="1"/>
            <a:r>
              <a:rPr sz="2000" b="0">
                <a:latin typeface="Calibri"/>
              </a:rPr>
              <a:t>Профиль по умолчанию</a:t>
            </a:r>
          </a:p>
          <a:p>
            <a:pPr lvl="1"/>
            <a:r>
              <a:rPr sz="2000" b="0">
                <a:latin typeface="Calibri"/>
              </a:rPr>
              <a:t>Ручная правка значений в интерфейсе</a:t>
            </a:r>
          </a:p>
          <a:p>
            <a:pPr/>
            <a:r>
              <a:rPr sz="2000" b="0">
                <a:latin typeface="Calibri"/>
              </a:rPr>
              <a:t>Параметры СНЭЭ: Nin, Nout, емкость, КПД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/>
              </a:rPr>
              <a:t>Что рассчитывает система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Calibri"/>
              </a:rPr>
              <a:t>Почасовой график заряда/разряда СНЭЭ</a:t>
            </a:r>
          </a:p>
          <a:p>
            <a:pPr/>
            <a:r>
              <a:rPr sz="2000" b="0">
                <a:latin typeface="Calibri"/>
              </a:rPr>
              <a:t>Результирующий баланс после применения СНЭЭ</a:t>
            </a:r>
          </a:p>
          <a:p>
            <a:pPr/>
            <a:r>
              <a:rPr sz="2000" b="0">
                <a:latin typeface="Calibri"/>
              </a:rPr>
              <a:t>Состояние заряда батареи (SOC) по каждому часу</a:t>
            </a:r>
          </a:p>
          <a:p>
            <a:pPr/>
            <a:r>
              <a:rPr sz="2000" b="0">
                <a:latin typeface="Calibri"/>
              </a:rPr>
              <a:t>KPI: покрытие дефицита, использование избытка, пиковые мощности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/>
              </a:rPr>
              <a:t>Что можно интерактивно менять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Calibri"/>
              </a:rPr>
              <a:t>Точки графика исходного профиля (drag-and-drop)</a:t>
            </a:r>
          </a:p>
          <a:p>
            <a:pPr/>
            <a:r>
              <a:rPr sz="2000" b="0">
                <a:latin typeface="Calibri"/>
              </a:rPr>
              <a:t>Смещение всего профиля вверх/вниз</a:t>
            </a:r>
          </a:p>
          <a:p>
            <a:pPr/>
            <a:r>
              <a:rPr sz="2000" b="0">
                <a:latin typeface="Calibri"/>
              </a:rPr>
              <a:t>Параметры батареи через поля ввода</a:t>
            </a:r>
          </a:p>
          <a:p>
            <a:pPr/>
            <a:r>
              <a:rPr sz="2000" b="0">
                <a:latin typeface="Calibri"/>
              </a:rPr>
              <a:t>Параметры через SVG-батарею (перетаскивание маркеров)</a:t>
            </a:r>
          </a:p>
          <a:p>
            <a:pPr/>
            <a:r>
              <a:rPr sz="2000" b="0">
                <a:latin typeface="Calibri"/>
              </a:rPr>
              <a:t>После изменения данные пересчитываются и графики обновляются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/>
              </a:rPr>
              <a:t>Как определяются оптимальные параметры СНЭЭ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Calibri"/>
              </a:rPr>
              <a:t>Сначала запускается расчет оценочных параметров (QP-оптимизация)</a:t>
            </a:r>
          </a:p>
          <a:p>
            <a:pPr/>
            <a:r>
              <a:rPr sz="2000" b="0">
                <a:latin typeface="Calibri"/>
              </a:rPr>
              <a:t>Одновременно подбираются:</a:t>
            </a:r>
          </a:p>
          <a:p>
            <a:pPr lvl="1"/>
            <a:r>
              <a:rPr sz="2000" b="0">
                <a:latin typeface="Calibri"/>
              </a:rPr>
              <a:t>входная мощность (Nin)</a:t>
            </a:r>
          </a:p>
          <a:p>
            <a:pPr lvl="1"/>
            <a:r>
              <a:rPr sz="2000" b="0">
                <a:latin typeface="Calibri"/>
              </a:rPr>
              <a:t>выходная мощность (Nout)</a:t>
            </a:r>
          </a:p>
          <a:p>
            <a:pPr lvl="1"/>
            <a:r>
              <a:rPr sz="2000" b="0">
                <a:latin typeface="Calibri"/>
              </a:rPr>
              <a:t>емкость батареи (C)</a:t>
            </a:r>
          </a:p>
          <a:p>
            <a:pPr lvl="1"/>
            <a:r>
              <a:rPr sz="2000" b="0">
                <a:latin typeface="Calibri"/>
              </a:rPr>
              <a:t>остаточный дефицит мощности (Dmax)</a:t>
            </a:r>
          </a:p>
          <a:p>
            <a:pPr/>
            <a:r>
              <a:rPr sz="2000" b="0">
                <a:latin typeface="Calibri"/>
              </a:rPr>
              <a:t>Учитываются ограничения по КПД, мощности и емкости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/>
              </a:rPr>
              <a:t>Как строится диспетчерский график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Calibri"/>
              </a:rPr>
              <a:t>Вход: профиль 24 часа + выбранные параметры СНЭЭ</a:t>
            </a:r>
          </a:p>
          <a:p>
            <a:pPr/>
            <a:r>
              <a:rPr sz="2000" b="0">
                <a:latin typeface="Calibri"/>
              </a:rPr>
              <a:t>Оптимизатор рассчитывает почасовой режим заряд/разряд</a:t>
            </a:r>
          </a:p>
          <a:p>
            <a:pPr/>
            <a:r>
              <a:rPr sz="2000" b="0">
                <a:latin typeface="Calibri"/>
              </a:rPr>
              <a:t>Для каждого часа формируется результирующий баланс</a:t>
            </a:r>
          </a:p>
          <a:p>
            <a:pPr/>
            <a:r>
              <a:rPr sz="2000" b="0">
                <a:latin typeface="Calibri"/>
              </a:rPr>
              <a:t>Отдельно строится SOC-график с ограничением по емкости</a:t>
            </a:r>
          </a:p>
          <a:p>
            <a:pPr/>
            <a:r>
              <a:rPr sz="2000" b="0">
                <a:latin typeface="Calibri"/>
              </a:rPr>
              <a:t>Пользователь видит эффект параметров в реальном времени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/>
              </a:rPr>
              <a:t>Как читать результат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Calibri"/>
              </a:rPr>
              <a:t>Снижение дефицита: насколько СНЭЭ закрывает нехватку мощности/энергии</a:t>
            </a:r>
          </a:p>
          <a:p>
            <a:pPr/>
            <a:r>
              <a:rPr sz="2000" b="0">
                <a:latin typeface="Calibri"/>
              </a:rPr>
              <a:t>Использование избытка: сколько излишней энергии удалось направить в заряд</a:t>
            </a:r>
          </a:p>
          <a:p>
            <a:pPr/>
            <a:r>
              <a:rPr sz="2000" b="0">
                <a:latin typeface="Calibri"/>
              </a:rPr>
              <a:t>SOC: не выходит ли батарея за пределы допустимой емкости</a:t>
            </a:r>
          </a:p>
          <a:p>
            <a:pPr/>
            <a:r>
              <a:rPr sz="2000" b="0">
                <a:latin typeface="Calibri"/>
              </a:rPr>
              <a:t>Сравнение исходного и результирующего баланса по каждому часу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/>
              </a:rPr>
              <a:t>Короткий сценарий демонстрации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Calibri"/>
              </a:rPr>
              <a:t>1) Загрузить профиль (по умолчанию или Excel)</a:t>
            </a:r>
          </a:p>
          <a:p>
            <a:pPr/>
            <a:r>
              <a:rPr sz="2000" b="0">
                <a:latin typeface="Calibri"/>
              </a:rPr>
              <a:t>2) Подправить 1-2 часа на графике</a:t>
            </a:r>
          </a:p>
          <a:p>
            <a:pPr/>
            <a:r>
              <a:rPr sz="2000" b="0">
                <a:latin typeface="Calibri"/>
              </a:rPr>
              <a:t>3) Нажать: Рассчитать оценочные параметры</a:t>
            </a:r>
          </a:p>
          <a:p>
            <a:pPr/>
            <a:r>
              <a:rPr sz="2000" b="0">
                <a:latin typeface="Calibri"/>
              </a:rPr>
              <a:t>4) Применить оценочные параметры</a:t>
            </a:r>
          </a:p>
          <a:p>
            <a:pPr/>
            <a:r>
              <a:rPr sz="2000" b="0">
                <a:latin typeface="Calibri"/>
              </a:rPr>
              <a:t>5) Нажать: Рассчитать диспетчерский график</a:t>
            </a:r>
          </a:p>
          <a:p>
            <a:pPr/>
            <a:r>
              <a:rPr sz="2000" b="0">
                <a:latin typeface="Calibri"/>
              </a:rPr>
              <a:t>6) Показать KPI и выгрузку в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Calibri"/>
              </a:rPr>
              <a:t>Польза для конечного пользователя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Calibri"/>
              </a:rPr>
              <a:t>Быстрое понимание, какой накопитель нужен под конкретный профиль</a:t>
            </a:r>
          </a:p>
          <a:p>
            <a:pPr/>
            <a:r>
              <a:rPr sz="2000" b="0">
                <a:latin typeface="Calibri"/>
              </a:rPr>
              <a:t>Прозрачная визуализация вместо ручных расчетов</a:t>
            </a:r>
          </a:p>
          <a:p>
            <a:pPr/>
            <a:r>
              <a:rPr sz="2000" b="0">
                <a:latin typeface="Calibri"/>
              </a:rPr>
              <a:t>Возможность оперативно проверить разные сценарии</a:t>
            </a:r>
          </a:p>
          <a:p>
            <a:pPr/>
            <a:r>
              <a:rPr sz="2000" b="0">
                <a:latin typeface="Calibri"/>
              </a:rPr>
              <a:t>Готовые показатели для принятия решения и отчета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
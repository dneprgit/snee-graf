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latin typeface="Calibri"/>
              </a:rPr>
              <a:t>Как работает расчет СНЭЭ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b="0">
                <a:latin typeface="Calibri"/>
              </a:rPr>
              <a:t>Простое объяснение оптимальных параметров и графика заряда/разряда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Calibri"/>
              </a:rPr>
              <a:t>Ключевой факт про оптимизацию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latin typeface="Calibri"/>
              </a:rPr>
              <a:t>В названиях часто фигурирует QP (квадратичная оптимизация)</a:t>
            </a:r>
          </a:p>
          <a:p>
            <a:pPr/>
            <a:r>
              <a:rPr sz="1900" b="0">
                <a:latin typeface="Calibri"/>
              </a:rPr>
              <a:t>Но в текущем коде используется линейная оптимизация (LP)</a:t>
            </a:r>
          </a:p>
          <a:p>
            <a:pPr/>
            <a:r>
              <a:rPr sz="1900" b="0">
                <a:latin typeface="Calibri"/>
              </a:rPr>
              <a:t>Решатель: scipy linprog, метод HiGHS</a:t>
            </a:r>
          </a:p>
          <a:p>
            <a:pPr/>
            <a:r>
              <a:rPr sz="1900" b="0">
                <a:latin typeface="Calibri"/>
              </a:rPr>
              <a:t>То есть фактическая математика сейчас линейная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Calibri"/>
              </a:rPr>
              <a:t>Два шага расчета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latin typeface="Calibri"/>
              </a:rPr>
              <a:t>Шаг 1: подбор оценочных параметров СНЭЭ</a:t>
            </a:r>
          </a:p>
          <a:p>
            <a:pPr/>
            <a:r>
              <a:rPr sz="1900" b="0">
                <a:latin typeface="Calibri"/>
              </a:rPr>
              <a:t>Шаг 2: расчет почасового графика с выбранными параметрами</a:t>
            </a:r>
          </a:p>
          <a:p>
            <a:pPr/>
            <a:r>
              <a:rPr sz="1900" b="0">
                <a:latin typeface="Calibri"/>
              </a:rPr>
              <a:t>Сначала определяем размер системы, потом ее режим работы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Calibri"/>
              </a:rPr>
              <a:t>Что определяется на шаге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latin typeface="Calibri"/>
              </a:rPr>
              <a:t>Подбираются сразу четыре величины:</a:t>
            </a:r>
          </a:p>
          <a:p>
            <a:pPr lvl="1"/>
            <a:r>
              <a:rPr sz="1900" b="0">
                <a:latin typeface="Calibri"/>
              </a:rPr>
              <a:t>входная мощность заряда (Nin)</a:t>
            </a:r>
          </a:p>
          <a:p>
            <a:pPr lvl="1"/>
            <a:r>
              <a:rPr sz="1900" b="0">
                <a:latin typeface="Calibri"/>
              </a:rPr>
              <a:t>выходная мощность разряда (Nout)</a:t>
            </a:r>
          </a:p>
          <a:p>
            <a:pPr lvl="1"/>
            <a:r>
              <a:rPr sz="1900" b="0">
                <a:latin typeface="Calibri"/>
              </a:rPr>
              <a:t>емкость батареи (C)</a:t>
            </a:r>
          </a:p>
          <a:p>
            <a:pPr lvl="1"/>
            <a:r>
              <a:rPr sz="1900" b="0">
                <a:latin typeface="Calibri"/>
              </a:rPr>
              <a:t>максимальный остаточный дефицит (Dmax)</a:t>
            </a:r>
          </a:p>
          <a:p>
            <a:pPr/>
            <a:r>
              <a:rPr sz="1900" b="0">
                <a:latin typeface="Calibri"/>
              </a:rPr>
              <a:t>Одновременно учитывается почасовой баланс в 24 точках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Calibri"/>
              </a:rPr>
              <a:t>Логика цели оптимизации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latin typeface="Calibri"/>
              </a:rPr>
              <a:t>Главная цель - минимизировать дефицит</a:t>
            </a:r>
          </a:p>
          <a:p>
            <a:pPr/>
            <a:r>
              <a:rPr sz="1900" b="0">
                <a:latin typeface="Calibri"/>
              </a:rPr>
              <a:t>Особенно сильно штрафуется пик дефицита (Dmax)</a:t>
            </a:r>
          </a:p>
          <a:p>
            <a:pPr/>
            <a:r>
              <a:rPr sz="1900" b="0">
                <a:latin typeface="Calibri"/>
              </a:rPr>
              <a:t>Дополнительно ограничиваются слишком большие Nin, Nout и C</a:t>
            </a:r>
          </a:p>
          <a:p>
            <a:pPr/>
            <a:r>
              <a:rPr sz="1900" b="0">
                <a:latin typeface="Calibri"/>
              </a:rPr>
              <a:t>Результат - компромисс между качеством покрытия и размером СНЭЭ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Calibri"/>
              </a:rPr>
              <a:t>Как учитывается КПД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latin typeface="Calibri"/>
              </a:rPr>
              <a:t>КПД связывает заряд и разряд через потери энергии</a:t>
            </a:r>
          </a:p>
          <a:p>
            <a:pPr/>
            <a:r>
              <a:rPr sz="1900" b="0">
                <a:latin typeface="Calibri"/>
              </a:rPr>
              <a:t>Чтобы отдать 1 единицу в разряд, нужно зарядить больше 1 единицы</a:t>
            </a:r>
          </a:p>
          <a:p>
            <a:pPr/>
            <a:r>
              <a:rPr sz="1900" b="0">
                <a:latin typeface="Calibri"/>
              </a:rPr>
              <a:t>Чем ниже КПД, тем выше потребность в заряде и мощности</a:t>
            </a:r>
          </a:p>
          <a:p>
            <a:pPr/>
            <a:r>
              <a:rPr sz="1900" b="0">
                <a:latin typeface="Calibri"/>
              </a:rPr>
              <a:t>Из-за этого могут расти требуемые параметры системы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Calibri"/>
              </a:rPr>
              <a:t>Что происходит на шаге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latin typeface="Calibri"/>
              </a:rPr>
              <a:t>Берем найденные параметры (или заданные вручную)</a:t>
            </a:r>
          </a:p>
          <a:p>
            <a:pPr/>
            <a:r>
              <a:rPr sz="1900" b="0">
                <a:latin typeface="Calibri"/>
              </a:rPr>
              <a:t>Считаем почасовой график заряда/разряда на 24 часа</a:t>
            </a:r>
          </a:p>
          <a:p>
            <a:pPr/>
            <a:r>
              <a:rPr sz="1900" b="0">
                <a:latin typeface="Calibri"/>
              </a:rPr>
              <a:t>Формируем результирующий баланс и SOC батареи</a:t>
            </a:r>
          </a:p>
          <a:p>
            <a:pPr/>
            <a:r>
              <a:rPr sz="1900" b="0">
                <a:latin typeface="Calibri"/>
              </a:rPr>
              <a:t>Получаем итоговый диспетчерский график для визуализации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Calibri"/>
              </a:rPr>
              <a:t>Почему график именно такой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latin typeface="Calibri"/>
              </a:rPr>
              <a:t>График - это результат решения задачи с ограничениями</a:t>
            </a:r>
          </a:p>
          <a:p>
            <a:pPr/>
            <a:r>
              <a:rPr sz="1900" b="0">
                <a:latin typeface="Calibri"/>
              </a:rPr>
              <a:t>Заряд ограничен Nin, разряд ограничен Nout</a:t>
            </a:r>
          </a:p>
          <a:p>
            <a:pPr/>
            <a:r>
              <a:rPr sz="1900" b="0">
                <a:latin typeface="Calibri"/>
              </a:rPr>
              <a:t>SOC всегда в пределах от 0 до емкости C</a:t>
            </a:r>
          </a:p>
          <a:p>
            <a:pPr/>
            <a:r>
              <a:rPr sz="1900" b="0">
                <a:latin typeface="Calibri"/>
              </a:rPr>
              <a:t>Заряд и разряд ставятся туда, где это уменьшает дефицит лучше всего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Calibri"/>
              </a:rPr>
              <a:t>Почему есть ровные участки и максимумы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latin typeface="Calibri"/>
              </a:rPr>
              <a:t>Ровные участки появляются, когда выгодно держать стабильную мощность</a:t>
            </a:r>
          </a:p>
          <a:p>
            <a:pPr/>
            <a:r>
              <a:rPr sz="1900" b="0">
                <a:latin typeface="Calibri"/>
              </a:rPr>
              <a:t>Пики на максимуме возникают, когда нужно покрыть сильный дефицит</a:t>
            </a:r>
          </a:p>
          <a:p>
            <a:pPr/>
            <a:r>
              <a:rPr sz="1900" b="0">
                <a:latin typeface="Calibri"/>
              </a:rPr>
              <a:t>Если ограничений мало - график ближе к профилю</a:t>
            </a:r>
          </a:p>
          <a:p>
            <a:pPr/>
            <a:r>
              <a:rPr sz="1900" b="0">
                <a:latin typeface="Calibri"/>
              </a:rPr>
              <a:t>Если ограничений много - график упирается в пределы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Calibri"/>
              </a:rPr>
              <a:t>Принятые допущения модели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latin typeface="Calibri"/>
              </a:rPr>
              <a:t>Горизонт: 24 часа, шаг: 1 час</a:t>
            </a:r>
          </a:p>
          <a:p>
            <a:pPr/>
            <a:r>
              <a:rPr sz="1900" b="0">
                <a:latin typeface="Calibri"/>
              </a:rPr>
              <a:t>Параметры СНЭЭ постоянны в пределах суток</a:t>
            </a:r>
          </a:p>
          <a:p>
            <a:pPr/>
            <a:r>
              <a:rPr sz="1900" b="0">
                <a:latin typeface="Calibri"/>
              </a:rPr>
              <a:t>Нет деградации батареи, тарифов и температурных эффектов</a:t>
            </a:r>
          </a:p>
          <a:p>
            <a:pPr/>
            <a:r>
              <a:rPr sz="1900" b="0">
                <a:latin typeface="Calibri"/>
              </a:rPr>
              <a:t>Нет ограничений на скорость изменения мощности между часами</a:t>
            </a:r>
          </a:p>
          <a:p>
            <a:pPr/>
            <a:r>
              <a:rPr sz="1900" b="0">
                <a:latin typeface="Calibri"/>
              </a:rPr>
              <a:t>Суточный цикл энергии замкнут (связь первого и последнего часа)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Calibri"/>
              </a:rPr>
              <a:t>Как объяснять это пользователю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0">
                <a:latin typeface="Calibri"/>
              </a:rPr>
              <a:t>Сервис сначала подбирает размер СНЭЭ, потом считает режим работы</a:t>
            </a:r>
          </a:p>
          <a:p>
            <a:pPr/>
            <a:r>
              <a:rPr sz="1900" b="0">
                <a:latin typeface="Calibri"/>
              </a:rPr>
              <a:t>КПД учитывает реальные потери, поэтому расчет не идеализирован</a:t>
            </a:r>
          </a:p>
          <a:p>
            <a:pPr/>
            <a:r>
              <a:rPr sz="1900" b="0">
                <a:latin typeface="Calibri"/>
              </a:rPr>
              <a:t>График строится автоматически из ограничений и цели оптимизации</a:t>
            </a:r>
          </a:p>
          <a:p>
            <a:pPr/>
            <a:r>
              <a:rPr sz="1900" b="0">
                <a:latin typeface="Calibri"/>
              </a:rPr>
              <a:t>Каждая точка графика имеет физическую и расчетную причину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